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B7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 (0)</c:v>
                  </c:pt>
                  <c:pt idx="1">
                    <c:v>Fraudulent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2C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6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Logistic Reg</c:v>
                  </c:pt>
                  <c:pt idx="1">
                    <c:v>XGBoost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LR+Undersample</c:v>
                  </c:pt>
                  <c:pt idx="5">
                    <c:v>LR+SMOTE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</c:v>
                </c:pt>
                <c:pt idx="1">
                  <c:v>0.98</c:v>
                </c:pt>
                <c:pt idx="2">
                  <c:v>0.93</c:v>
                </c:pt>
                <c:pt idx="3">
                  <c:v>0.97</c:v>
                </c:pt>
                <c:pt idx="4">
                  <c:v>0.94</c:v>
                </c:pt>
                <c:pt idx="5">
                  <c:v>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3200400" cy="3200400"/>
          </a:xfrm>
          <a:prstGeom prst="ellipse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182880"/>
            <a:ext cx="2011680" cy="2011680"/>
          </a:xfrm>
          <a:prstGeom prst="ellipse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 FRAUD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96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C4B6"/>
                </a:solidFill>
              </a:rPr>
              <a:t>ML Pipeline for Identifying Fraudulent Transactions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EC4B6"/>
                </a:solidFill>
              </a:rPr>
              <a:t>with Class Imbalance Handling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Arun Teja Vemula  ·  Kaggle — ULB Credit Card Dataset  ·  284,807 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5120640"/>
            <a:ext cx="1600200" cy="713232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51389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284,807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5504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2F4"/>
                </a:solidFill>
              </a:rPr>
              <a:t>Transactions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378440" y="5120640"/>
            <a:ext cx="1600200" cy="713232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378440" y="51389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492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78440" y="5504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2F4"/>
                </a:solidFill>
              </a:rPr>
              <a:t>Fraudulent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595360" y="5925312"/>
            <a:ext cx="1600200" cy="713232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5943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0.172%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6309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2F4"/>
                </a:solidFill>
              </a:rPr>
              <a:t>Fraud Rate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378440" y="5925312"/>
            <a:ext cx="1600200" cy="713232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378440" y="5943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0.98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78440" y="6309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2F4"/>
                </a:solidFill>
              </a:rPr>
              <a:t>Best ROC-AUC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527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Why fraud detection matters and what makes it hard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284,807 transactions, PCA features, extreme imbalance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The Imbalance Challenge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47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Why accuracy fails — choosing ROC-AUC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Preparation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445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Scaling, skewness correction, outlier treatment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539496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Building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6418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Logistic Regression, XGBoost, Decision Tree, Random Forest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00584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1005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Handling Imbalance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12527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Undersampling &amp; SMOTE oversampling strategies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103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Results &amp; Comparison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23500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ROC-AUC scores across all models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3200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447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XGBoost wins, threshold matters, feature importance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Summary &amp; Conclusion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5445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Pipeline recap and future work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5394960"/>
            <a:ext cx="457200" cy="4572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093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5394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56418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APA citations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Real-World Cost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64592" cy="164592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Banking fraud projected to cost $30B+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66544"/>
            <a:ext cx="164592" cy="164592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99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Every fraudulent transaction = direct bank loss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164592" cy="164592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Banks are liable for unauthorized charges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36976"/>
            <a:ext cx="164592" cy="164592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Customer trust permanently damaged by fraud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22192"/>
            <a:ext cx="164592" cy="164592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Rise of digital payments = rising fraud surface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914400"/>
            <a:ext cx="5394960" cy="5394960"/>
          </a:xfrm>
          <a:prstGeom prst="rect">
            <a:avLst/>
          </a:prstGeom>
          <a:solidFill>
            <a:srgbClr val="EDF2F4"/>
          </a:solidFill>
          <a:ln w="12700">
            <a:solidFill>
              <a:srgbClr val="1B7F8E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F8E"/>
                </a:solidFill>
              </a:rPr>
              <a:t>Project Goal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1600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1600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2331720"/>
            <a:ext cx="54864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0" y="2743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9680" y="3474720"/>
            <a:ext cx="54864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38862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3886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Fraud / Legitimate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Metric: ROC-AUC (not accuracy)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Goal: Maximize fraud recall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284,807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Transactions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743200" cy="11887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492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461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Fraudulent (0.172%)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74320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Features (V1–V28 + Time + Amount)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89720" y="914400"/>
            <a:ext cx="274320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960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897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 Collection Period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Feature Description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1005840" cy="41148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V1–V28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2816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PCA-anonymized transaction features (confidential)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1005840" cy="41148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429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Seconds elapsed since first transaction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1005840" cy="41148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069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4096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Transaction amount in EUR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1005840" cy="41148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7091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47365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 = Fraud, 0 = Legitimate</a:t>
            </a:r>
            <a:endParaRPr lang="en-US" sz="1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400800" y="228600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Class Imbalance Challenge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5303520"/>
          </a:xfrm>
          <a:prstGeom prst="rect">
            <a:avLst/>
          </a:prstGeom>
          <a:solidFill>
            <a:srgbClr val="EDF2F4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The Naive Model Trap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2C6B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predicts "NOT FRAUD" for every transaction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194560"/>
            <a:ext cx="54864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1460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 = 99.83% ✗  |  Fraud Recall = 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</a:rPr>
              <a:t>This is USELESS for fraud detection.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</a:rPr>
              <a:t>We need a better metric.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4937760" cy="2103120"/>
          </a:xfrm>
          <a:prstGeom prst="roundRect">
            <a:avLst>
              <a:gd name="adj" fmla="val 434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Why ROC-AUC?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Measures ranking ability: can model distinguish fraud from legitimate?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Score 0.5 = random guessing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50109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Score 1.0 = perfect separation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5312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Unaffected by class imbalance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56144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Industry standard for fraud models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Strategies to Handle Imbalance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54864" cy="1005840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Raw Imbalanced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17647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Train on original data + tune decision threshold for 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54864" cy="100584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Undersampling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95351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RandomUnderSampler — reduce majority class to match minority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794760"/>
            <a:ext cx="54864" cy="1005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SMOTE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41422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Synthetic Minority Over-sampling — generate synthetic fraud samples via KNN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983480"/>
            <a:ext cx="54864" cy="10058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983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Adasyn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3309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Adaptive variant of SMOTE — focuses on hard-to-classify samples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Preparation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creditcard.csv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284,807 rows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1536192"/>
            <a:ext cx="2286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Train/Test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Stratified split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preserves ratio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77640" y="1536192"/>
            <a:ext cx="2286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StandardScaler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Scale Time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Amount 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536192"/>
            <a:ext cx="2286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EC4B6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Fix skewness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in features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09560" y="1536192"/>
            <a:ext cx="2286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Treatment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IQR on fraud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class features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875520" y="1536192"/>
            <a:ext cx="22860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04120" y="10058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04120" y="10789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Balanced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04120" y="150876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SMOTE 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DF2F4"/>
                </a:solidFill>
              </a:rPr>
              <a:t>Undersampling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514600"/>
            <a:ext cx="5577840" cy="1645920"/>
          </a:xfrm>
          <a:prstGeom prst="rect">
            <a:avLst/>
          </a:prstGeom>
          <a:solidFill>
            <a:srgbClr val="EDF2F4"/>
          </a:solidFill>
          <a:ln w="19050">
            <a:solidFill>
              <a:srgbClr val="1B7F8E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B7F8E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2651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Missing Values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017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All 284,807 rows are complete. No imputation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5577840" cy="1645920"/>
          </a:xfrm>
          <a:prstGeom prst="rect">
            <a:avLst/>
          </a:prstGeom>
          <a:solidFill>
            <a:srgbClr val="EDF2F4"/>
          </a:solidFill>
          <a:ln w="19050">
            <a:solidFill>
              <a:srgbClr val="2C6B8A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2651760"/>
            <a:ext cx="457200" cy="457200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2651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V1–V28 Already Scaled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3017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PCA output has zero mean and unit variance. Only Time &amp; Amount need StandardScaler.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343400"/>
            <a:ext cx="5577840" cy="1645920"/>
          </a:xfrm>
          <a:prstGeom prst="rect">
            <a:avLst/>
          </a:prstGeom>
          <a:solidFill>
            <a:srgbClr val="EDF2F4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448056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PowerTransformer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Yeo-Johnson transform removes skewness. Improves Logistic Regression performance significantly.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4343400"/>
            <a:ext cx="5577840" cy="1645920"/>
          </a:xfrm>
          <a:prstGeom prst="rect">
            <a:avLst/>
          </a:prstGeom>
          <a:solidFill>
            <a:srgbClr val="EDF2F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44805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Outlier Treatment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4944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IQR-based outlier removal on fraud class reduces noise in the minority samples.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Building — Imbalanced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577840" cy="2514600"/>
          </a:xfrm>
          <a:prstGeom prst="rect">
            <a:avLst/>
          </a:prstGeom>
          <a:solidFill>
            <a:srgbClr val="EDF2F4"/>
          </a:solidFill>
          <a:ln w="19050">
            <a:solidFill>
              <a:srgbClr val="2C6B8A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577840" cy="457200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KFold CV (5 splits, shuffle=True)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GridSearchCV over C: [0.01, 0.1, 1, 10, 100, 1000]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Scoring: ROC-AUC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426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Best C selected, retrained on full train 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Threshold tuned via FPR/TPR curve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5577840" cy="2514600"/>
          </a:xfrm>
          <a:prstGeom prst="rect">
            <a:avLst/>
          </a:prstGeom>
          <a:solidFill>
            <a:srgbClr val="EDF2F4"/>
          </a:solidFill>
          <a:ln w="19050">
            <a:solidFill>
              <a:srgbClr val="1B7F8E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5577840" cy="4572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960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4904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Gradient boosted trees — handles imbalance well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scale_pos_weight parameter auto-adjusts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22585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No explicit threshold tuning needed initially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6426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Feature importance extraction available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30266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Best single model — Test ROC-AUC: 0.98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5577840" cy="2514600"/>
          </a:xfrm>
          <a:prstGeom prst="rect">
            <a:avLst/>
          </a:prstGeom>
          <a:solidFill>
            <a:srgbClr val="EDF2F4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557784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336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Full tree, pruned via max_depth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Prone to overfitting on imbalanced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50017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Good interpretability — can explain each decision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53858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Lower ROC-AUC than ensemble methods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57698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Used as baseline for ensemble comparison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703320"/>
            <a:ext cx="5577840" cy="2514600"/>
          </a:xfrm>
          <a:prstGeom prst="rect">
            <a:avLst/>
          </a:prstGeom>
          <a:solidFill>
            <a:srgbClr val="EDF2F4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703320"/>
            <a:ext cx="557784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2336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Ensemble of decision trees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46177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Not tried in all configurations (computational cost)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50017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ROC-AUC close to Logistic Regression (~0.97)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538581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Higher resource use than Logistic Regression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57698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• Feature importance via Gini impurity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Handling Imbalance: SMOTE &amp; Undersampling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94960" cy="5394960"/>
          </a:xfrm>
          <a:prstGeom prst="rect">
            <a:avLst/>
          </a:prstGeom>
          <a:solidFill>
            <a:srgbClr val="EDF2F4"/>
          </a:solidFill>
          <a:ln w="19050">
            <a:solidFill>
              <a:srgbClr val="2C6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394960" cy="502920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Undersampling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Randomly removes majority class samples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75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Balances dataset to match minority count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284,315 → 492 legitimate samples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363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Discards 99.8% of legitimate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667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Risk: losing important information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146304" cy="146304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970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Fast and simple to implement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2C6B8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Result: 984 samples (492 + 492)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914400"/>
            <a:ext cx="5394960" cy="5394960"/>
          </a:xfrm>
          <a:prstGeom prst="rect">
            <a:avLst/>
          </a:prstGeom>
          <a:solidFill>
            <a:srgbClr val="EDF2F4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914400"/>
            <a:ext cx="5394960" cy="5029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914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SMOTE Oversampling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158191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Synthetic Minority Over-sampling Technique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211226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075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Generates NEW synthetic fraud samples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0" y="264261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26060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Uses K-Nearest Neighbors to interpolate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317296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1363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Fraud class expanded to match majority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75120" y="370332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6667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Preserves all original majority samples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0" y="423367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41970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Better generalization than undersampling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475488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Result: ~569,630 balanced samples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XGBoost — Best Model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🏆  Best Performing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 ROC-AUC: 1.00   |   Test ROC-AUC: 0.98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XGBoost 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73152" cy="41148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24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Builds trees sequentially — each corrects prior errors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172968"/>
            <a:ext cx="73152" cy="41148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91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Regularization (L1/L2) prevents overfitting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739896"/>
            <a:ext cx="73152" cy="41148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581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scale_pos_weight handles class imbalance natively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306824"/>
            <a:ext cx="73152" cy="41148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251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Parallel processing — fast training at scale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873752"/>
            <a:ext cx="73152" cy="41148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Feature importance via gain/cover/frequency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914400"/>
            <a:ext cx="5486400" cy="5760720"/>
          </a:xfrm>
          <a:prstGeom prst="rect">
            <a:avLst/>
          </a:prstGeom>
          <a:solidFill>
            <a:srgbClr val="EDF2F4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9875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 Feature Importances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15087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V14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1536192"/>
            <a:ext cx="3909060" cy="32004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361420" y="1536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1031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130552"/>
            <a:ext cx="3086100" cy="32004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38460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2697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2724912"/>
            <a:ext cx="2674620" cy="32004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26980" y="2724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3319272"/>
            <a:ext cx="2386584" cy="32004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38944" y="3319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886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V17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3913632"/>
            <a:ext cx="2057400" cy="320040"/>
          </a:xfrm>
          <a:prstGeom prst="rect">
            <a:avLst/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509760" y="3913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4805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V11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06640" y="4507992"/>
            <a:ext cx="1728216" cy="320040"/>
          </a:xfrm>
          <a:prstGeom prst="rect">
            <a:avLst/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80576" y="45079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50749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Amount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5102352"/>
            <a:ext cx="1234440" cy="320040"/>
          </a:xfrm>
          <a:prstGeom prst="rect">
            <a:avLst/>
          </a:prstGeom>
          <a:solidFill>
            <a:srgbClr val="6B7280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0" y="5102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V14 is the strongest fraud predictor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(anonymized PCA component)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Threshold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Why Default 0.5 Threshold is Wrong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447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Default threshold 0.5 assumes equal cost for both error types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04825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</a:rPr>
              <a:t>Missing a fraud (False Negative) costs the bank real money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15184"/>
            <a:ext cx="164592" cy="164592"/>
          </a:xfrm>
          <a:prstGeom prst="ellipse">
            <a:avLst/>
          </a:prstGeom>
          <a:solidFill>
            <a:srgbClr val="2C6B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786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B8A"/>
                </a:solidFill>
              </a:rPr>
              <a:t>Flagging a legitimate tx (False Positive) just annoys the customer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4553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Lower threshold → more fraud caught (higher recall)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124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Lower threshold → more false alarms (lower precision)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315968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79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Business decides the acceptable FPR vs TPR trade-off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983480"/>
            <a:ext cx="5394960" cy="1645920"/>
          </a:xfrm>
          <a:prstGeom prst="rect">
            <a:avLst/>
          </a:prstGeom>
          <a:solidFill>
            <a:srgbClr val="EDF2F4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50292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Approach: Plot FPR vs TPR across all thresholds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→ Pick threshold that maximizes fraud recall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</a:rPr>
              <a:t>while keeping false positive rate acceptable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914400"/>
            <a:ext cx="5486400" cy="5760720"/>
          </a:xfrm>
          <a:prstGeom prst="rect">
            <a:avLst/>
          </a:prstGeom>
          <a:solidFill>
            <a:srgbClr val="EDF2F4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9875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ROC Curve Concept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1508760"/>
            <a:ext cx="45720" cy="4389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5852160"/>
            <a:ext cx="4572000" cy="45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 rot="16200000">
            <a:off x="6492240" y="1463040"/>
            <a:ext cx="457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D1B2A"/>
                </a:solidFill>
              </a:rPr>
              <a:t>True Positive Rate (Recall)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995160" y="5897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False Positive Rate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5852160"/>
            <a:ext cx="4480560" cy="-43434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995160" y="5852160"/>
            <a:ext cx="224028" cy="-2388870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19188" y="3463290"/>
            <a:ext cx="224028" cy="-998982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3216" y="2464308"/>
            <a:ext cx="448056" cy="-521208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1272" y="1943100"/>
            <a:ext cx="896112" cy="-260604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87384" y="1682496"/>
            <a:ext cx="896112" cy="-86868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83496" y="1595628"/>
            <a:ext cx="1792224" cy="-86868"/>
          </a:xfrm>
          <a:prstGeom prst="line">
            <a:avLst/>
          </a:prstGeom>
          <a:noFill/>
          <a:ln w="31750">
            <a:solidFill>
              <a:srgbClr val="1B7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F8E"/>
                </a:solidFill>
              </a:rPr>
              <a:t>XGBoost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B7F8E"/>
                </a:solidFill>
              </a:rPr>
              <a:t>AUC = 0.98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2688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Random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AUC = 0.5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 — Model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5603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960120"/>
            <a:ext cx="18288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960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Used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16459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960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ROC-AUC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960120"/>
            <a:ext cx="164592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960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960120"/>
            <a:ext cx="356616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960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25603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17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1417320"/>
            <a:ext cx="18288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417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Imbalanced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17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4173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1417320"/>
            <a:ext cx="356616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14173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Tuned C, threshold opt.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75688"/>
            <a:ext cx="2560320" cy="594360"/>
          </a:xfrm>
          <a:prstGeom prst="rect">
            <a:avLst/>
          </a:prstGeom>
          <a:solidFill>
            <a:srgbClr val="1B7F8E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07568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XGBoost 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34640" y="2075688"/>
            <a:ext cx="1828800" cy="594360"/>
          </a:xfrm>
          <a:prstGeom prst="rect">
            <a:avLst/>
          </a:prstGeom>
          <a:solidFill>
            <a:srgbClr val="1B7F8E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07568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Imbalanced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075688"/>
            <a:ext cx="1645920" cy="594360"/>
          </a:xfrm>
          <a:prstGeom prst="rect">
            <a:avLst/>
          </a:prstGeom>
          <a:solidFill>
            <a:srgbClr val="1B7F8E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75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1.00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2075688"/>
            <a:ext cx="1645920" cy="594360"/>
          </a:xfrm>
          <a:prstGeom prst="rect">
            <a:avLst/>
          </a:prstGeom>
          <a:solidFill>
            <a:srgbClr val="1B7F8E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075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0.98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2075688"/>
            <a:ext cx="3566160" cy="594360"/>
          </a:xfrm>
          <a:prstGeom prst="rect">
            <a:avLst/>
          </a:prstGeom>
          <a:solidFill>
            <a:srgbClr val="1B7F8E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0756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model overall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2734056"/>
            <a:ext cx="25603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73405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Decision Tree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2734056"/>
            <a:ext cx="18288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27340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Imbalanced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734056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73405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734056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73405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55280" y="2734056"/>
            <a:ext cx="356616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273405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Prone to overfit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392424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924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4640" y="3392424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339242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Imbalanced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392424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39242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0.99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392424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39242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0.97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955280" y="3392424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339242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Near LR performance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050792"/>
            <a:ext cx="25603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0507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LR + Undersampling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34640" y="4050792"/>
            <a:ext cx="182880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80360" y="40507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Balanced (RUS)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4050792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405079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~0.95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9360" y="4050792"/>
            <a:ext cx="164592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405079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~0.94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55280" y="4050792"/>
            <a:ext cx="3566160" cy="594360"/>
          </a:xfrm>
          <a:prstGeom prst="rect">
            <a:avLst/>
          </a:prstGeom>
          <a:solidFill>
            <a:srgbClr val="EDF2F4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01000" y="40507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Data loss issue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709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709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LR + SMOTE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34640" y="470916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80360" y="47091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Balanced (SMOTE)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663440" y="47091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~0.97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09360" y="47091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5508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~0.96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955280" y="470916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8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01000" y="47091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Better than undersampling</a:t>
            </a:r>
            <a:endParaRPr lang="en-US" sz="1000" dirty="0"/>
          </a:p>
        </p:txBody>
      </p:sp>
      <p:graphicFrame>
        <p:nvGraphicFramePr>
          <p:cNvPr id="74" name="Chart 0" descr=""/>
          <p:cNvGraphicFramePr/>
          <p:nvPr/>
        </p:nvGraphicFramePr>
        <p:xfrm>
          <a:off x="274320" y="5532120"/>
          <a:ext cx="114300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1B7F8E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73736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XGBoost is the Best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Test ROC-AUC of 0.98 — highest across all approaches. The 0.01 advantage over Logistic Regression (0.97) translates to significant savings at banking scale.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960120"/>
            <a:ext cx="502920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10515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Accuracy is Useless for Fraud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146304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naive "always predict legitimate" model scores 99.83% accuracy but catches zero fraud. ROC-AUC is the correct metric for severely imbalanced classification.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2C6B8A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502920" cy="1737360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Threshold Tuning is Critical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Default 0.5 threshold is wrong. Shifting to a lower threshold dramatically increases recall. The optimal threshold depends on the bank's cost tolerance for false positives.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834640"/>
            <a:ext cx="502920" cy="17373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474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29260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SMOTE Beats Undersampling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3375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Undersampling discards 99.8% of legitimate data — information loss hurts generalization. SMOTE generates synthetic fraud samples while keeping all real data.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709160"/>
            <a:ext cx="502920" cy="1737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5349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800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V14 is the Top Predictor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2120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XGBoost feature importance shows V14 (anonymized PCA component) is the strongest fraud signal, followed by V4, V10, and V12.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577840" cy="1737360"/>
          </a:xfrm>
          <a:prstGeom prst="rect">
            <a:avLst/>
          </a:prstGeom>
          <a:solidFill>
            <a:srgbClr val="EDF2F4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4709160"/>
            <a:ext cx="502920" cy="17373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349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4800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KNN &amp; SVM Excluded Intentionally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52120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KNN is O(n) at prediction time — too slow for 284K+ rows. SVM requires expensive kernel tuning at this scale. Not practical for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1371600"/>
          </a:xfrm>
          <a:prstGeom prst="ellipse">
            <a:avLst/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284,807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664208"/>
            <a:ext cx="96012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2788920" y="1005840"/>
            <a:ext cx="1371600" cy="1371600"/>
          </a:xfrm>
          <a:prstGeom prst="ellipse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0789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2423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Imbalance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Handled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1664208"/>
            <a:ext cx="96012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005840"/>
            <a:ext cx="1371600" cy="1371600"/>
          </a:xfrm>
          <a:prstGeom prst="ellipse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0789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4 Models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Trained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664208"/>
            <a:ext cx="96012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1005840"/>
            <a:ext cx="1371600" cy="137160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0789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2423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Optimized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23960" y="1664208"/>
            <a:ext cx="96012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1005840"/>
            <a:ext cx="1371600" cy="13716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10789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92640" y="2423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XGBoost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ROC 0.98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2560320" cy="137160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364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0.98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Best Test ROC-AUC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(XGBoost)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560320" cy="1371600"/>
          </a:xfrm>
          <a:prstGeom prst="rect">
            <a:avLst/>
          </a:prstGeom>
          <a:solidFill>
            <a:srgbClr val="2C6B8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364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Missing Values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in Dataset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291840"/>
            <a:ext cx="2560320" cy="1371600"/>
          </a:xfrm>
          <a:prstGeom prst="rect">
            <a:avLst/>
          </a:prstGeom>
          <a:solidFill>
            <a:srgbClr val="2EC4B6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3364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2648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ML Models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Evaluated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0" y="3291840"/>
            <a:ext cx="2560320" cy="1371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0" y="3364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96112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Imbalance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DF2F4"/>
                </a:solidFill>
              </a:rPr>
              <a:t>Strategies Tried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892040"/>
            <a:ext cx="11612880" cy="1737360"/>
          </a:xfrm>
          <a:prstGeom prst="roundRect">
            <a:avLst>
              <a:gd name="adj" fmla="val 5263"/>
            </a:avLst>
          </a:prstGeom>
          <a:solidFill>
            <a:srgbClr val="EDF2F4"/>
          </a:solidFill>
          <a:ln w="19050">
            <a:solidFill>
              <a:srgbClr val="1B7F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8E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349240"/>
            <a:ext cx="11247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For severely imbalanced classification: accuracy is the wrong metric, SMOTE outperforms undersampling, and gradient boosting (XGBoost) consistently outperforms linear models. Threshold optimization is as important as model selection.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F2F4"/>
                </a:solidFill>
              </a:rPr>
              <a:t>Credit card fraud detection is a solved research problem but a challenging engineering reality. The key insights: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64008" cy="6858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Accuracy is misleading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ROC-AUC and recall are the metrics that matter for imbalanced fraud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044952"/>
            <a:ext cx="64008" cy="6858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723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XGBoost dominates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Gradient boosting outperforms all linear and tree models with ROC-AUC 0.98.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941064"/>
            <a:ext cx="64008" cy="6858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684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Threshold matters as much as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The optimal decision threshold is a business decision, not a technical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837176"/>
            <a:ext cx="64008" cy="6858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64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SMOTE &gt; Undersampling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1480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F2F4"/>
                </a:solidFill>
              </a:rPr>
              <a:t>Synthetic oversampling preserves information and generalizes better.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5760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053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LSTM for sequential patterns  ·  Cost-sensitive learning  ·  Real-time streaming pipeline  ·  Ensemble XGBoost + LR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APA 7th Edition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1612880" cy="27432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65836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44168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Chawla, N. V., Bowyer, K. W., Hall, L. O., &amp; Kegelmeyer, W. P. (2002). SMOTE: Synthetic minority over-sampling technique. Journal of Artificial Intelligence Research, 16, 321–357.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54864" cy="658368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94560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Chen, T., &amp; Guestrin, C. (2016). XGBoost: A scalable tree boosting system. Proceedings of the 22nd ACM SIGKDD International Conference on Knowledge Discovery and Data Mining, 785–794. https://doi.org/10.1145/2939672.2939785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026664"/>
            <a:ext cx="54864" cy="65836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44952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Dal Pozzolo, A., Caelen, O., Johnson, R. A., &amp; Bontempi, G. (2015). Calibrating probability with undersampling for unbalanced classification. IEEE Symposium Series on Computational Intelligence, 159–166.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877056"/>
            <a:ext cx="54864" cy="658368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95344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Machine Learning Group — ULB. (2018). Credit card fraud detection [Dataset]. Kaggle. https://www.kaggle.com/datasets/mlg-ulb/creditcardfraud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727448"/>
            <a:ext cx="54864" cy="658368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745736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Nilson Report. (2019). Card fraud losses worldwide. HSN Consultants, Inc.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5577840"/>
            <a:ext cx="54864" cy="658368"/>
          </a:xfrm>
          <a:prstGeom prst="rect">
            <a:avLst/>
          </a:prstGeom>
          <a:solidFill>
            <a:srgbClr val="2C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596128"/>
            <a:ext cx="11430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Pedregosa, F., Varoquaux, G., Gramfort, A., Michel, V., Thirion, B., Grisel, O., ... &amp; Duchesnay, E. (2011). Scikit-learn: Machine learning in Python. Journal of Machine Learning Research, 12, 2825–2830.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7F8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6B8A"/>
          </a:solidFill>
          <a:ln w="12700">
            <a:solidFill>
              <a:srgbClr val="2C6B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572000"/>
            <a:ext cx="4114800" cy="4114800"/>
          </a:xfrm>
          <a:prstGeom prst="ellipse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EC4B6"/>
                </a:solidFill>
              </a:rPr>
              <a:t>Credit Card Fraud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F2F4"/>
                </a:solidFill>
              </a:rPr>
              <a:t>Arun Teja Vemula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github.com/Aruntejavemula/credit-card-fraud-detection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5212080"/>
            <a:ext cx="201168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5257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0.98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5833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F2F4"/>
                </a:solidFill>
              </a:rPr>
              <a:t>Best ROC-AUC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5212080"/>
            <a:ext cx="201168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5257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284K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5833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F2F4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5212080"/>
            <a:ext cx="201168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5257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5833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F2F4"/>
                </a:solidFill>
              </a:rPr>
              <a:t>Best Model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778240" y="5212080"/>
            <a:ext cx="2011680" cy="1188720"/>
          </a:xfrm>
          <a:prstGeom prst="rect">
            <a:avLst/>
          </a:prstGeom>
          <a:solidFill>
            <a:srgbClr val="1B7F8E"/>
          </a:solidFill>
          <a:ln/>
          <a:effectLst>
            <a:outerShdw sx="100000" sy="100000" kx="0" ky="0" algn="bl" rotWithShape="0" blurRad="635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0" y="5257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SMOTE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5833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F2F4"/>
                </a:solidFill>
              </a:rPr>
              <a:t>Imbalance Fix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2026-06-09T17:13:50Z</dcterms:created>
  <dcterms:modified xsi:type="dcterms:W3CDTF">2026-06-09T17:13:50Z</dcterms:modified>
</cp:coreProperties>
</file>